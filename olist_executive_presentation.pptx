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5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6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77" r:id="rId5"/>
    <p:sldId id="260" r:id="rId6"/>
    <p:sldId id="261" r:id="rId7"/>
    <p:sldId id="278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9" r:id="rId20"/>
    <p:sldId id="274" r:id="rId21"/>
    <p:sldId id="27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B2A"/>
    <a:srgbClr val="EF4444"/>
    <a:srgbClr val="22C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144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sho Svirski" userId="9546bd90af6b3b72" providerId="LiveId" clId="{38743D1E-C5F6-4C6A-B43A-2AF44DDB35BB}"/>
    <pc:docChg chg="modSld">
      <pc:chgData name="Sasho Svirski" userId="9546bd90af6b3b72" providerId="LiveId" clId="{38743D1E-C5F6-4C6A-B43A-2AF44DDB35BB}" dt="2026-04-27T08:04:52.351" v="5" actId="20577"/>
      <pc:docMkLst>
        <pc:docMk/>
      </pc:docMkLst>
      <pc:sldChg chg="modSp mod">
        <pc:chgData name="Sasho Svirski" userId="9546bd90af6b3b72" providerId="LiveId" clId="{38743D1E-C5F6-4C6A-B43A-2AF44DDB35BB}" dt="2026-04-27T08:04:52.351" v="5" actId="20577"/>
        <pc:sldMkLst>
          <pc:docMk/>
          <pc:sldMk cId="0" sldId="257"/>
        </pc:sldMkLst>
        <pc:spChg chg="mod">
          <ac:chgData name="Sasho Svirski" userId="9546bd90af6b3b72" providerId="LiveId" clId="{38743D1E-C5F6-4C6A-B43A-2AF44DDB35BB}" dt="2026-04-27T08:04:52.351" v="5" actId="20577"/>
          <ac:spMkLst>
            <pc:docMk/>
            <pc:sldMk cId="0" sldId="257"/>
            <ac:spMk id="19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(R$)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Sheet1!$A$3:$A$14</c:f>
              <c:strCache>
                <c:ptCount val="12"/>
                <c:pt idx="0">
                  <c:v>Dec'16</c:v>
                </c:pt>
                <c:pt idx="1">
                  <c:v>Jan'17</c:v>
                </c:pt>
                <c:pt idx="2">
                  <c:v>Mar'17</c:v>
                </c:pt>
                <c:pt idx="3">
                  <c:v>May'17</c:v>
                </c:pt>
                <c:pt idx="4">
                  <c:v>Jul'17</c:v>
                </c:pt>
                <c:pt idx="5">
                  <c:v>Sep'17</c:v>
                </c:pt>
                <c:pt idx="6">
                  <c:v>Nov'17</c:v>
                </c:pt>
                <c:pt idx="7">
                  <c:v>Jan'18</c:v>
                </c:pt>
                <c:pt idx="8">
                  <c:v>Mar'18</c:v>
                </c:pt>
                <c:pt idx="9">
                  <c:v>May'18</c:v>
                </c:pt>
                <c:pt idx="10">
                  <c:v>Jul'18</c:v>
                </c:pt>
                <c:pt idx="11">
                  <c:v>Aug'18</c:v>
                </c:pt>
              </c:strCache>
            </c:strRef>
          </c:cat>
          <c:val>
            <c:numRef>
              <c:f>Sheet1!$B$3:$B$14</c:f>
              <c:numCache>
                <c:formatCode>General</c:formatCode>
                <c:ptCount val="12"/>
                <c:pt idx="0">
                  <c:v>40471</c:v>
                </c:pt>
                <c:pt idx="1">
                  <c:v>111798</c:v>
                </c:pt>
                <c:pt idx="2">
                  <c:v>359198</c:v>
                </c:pt>
                <c:pt idx="3">
                  <c:v>489338</c:v>
                </c:pt>
                <c:pt idx="4">
                  <c:v>421923</c:v>
                </c:pt>
                <c:pt idx="5">
                  <c:v>607399</c:v>
                </c:pt>
                <c:pt idx="6">
                  <c:v>987765</c:v>
                </c:pt>
                <c:pt idx="7">
                  <c:v>924645</c:v>
                </c:pt>
                <c:pt idx="8">
                  <c:v>953356</c:v>
                </c:pt>
                <c:pt idx="9">
                  <c:v>977544</c:v>
                </c:pt>
                <c:pt idx="10">
                  <c:v>867953</c:v>
                </c:pt>
                <c:pt idx="11">
                  <c:v>838576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225-4A61-A48F-17204983D3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Freight as % of Revenue by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Freight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HC</c:v>
                </c:pt>
                <c:pt idx="1">
                  <c:v>FL</c:v>
                </c:pt>
                <c:pt idx="2">
                  <c:v>FMU</c:v>
                </c:pt>
                <c:pt idx="3">
                  <c:v>CS</c:v>
                </c:pt>
                <c:pt idx="4">
                  <c:v>DH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410.31</c:v>
                </c:pt>
                <c:pt idx="1">
                  <c:v>488.87</c:v>
                </c:pt>
                <c:pt idx="2">
                  <c:v>1630.46</c:v>
                </c:pt>
                <c:pt idx="3">
                  <c:v>3229.3</c:v>
                </c:pt>
                <c:pt idx="4">
                  <c:v>573.67999999999995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35-4D4E-9016-E37D876946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HC</c:v>
                </c:pt>
                <c:pt idx="1">
                  <c:v>FL</c:v>
                </c:pt>
                <c:pt idx="2">
                  <c:v>FMU</c:v>
                </c:pt>
                <c:pt idx="3">
                  <c:v>CS</c:v>
                </c:pt>
                <c:pt idx="4">
                  <c:v>DH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760.27</c:v>
                </c:pt>
                <c:pt idx="1">
                  <c:v>1110.04</c:v>
                </c:pt>
                <c:pt idx="2">
                  <c:v>4368.08</c:v>
                </c:pt>
                <c:pt idx="3">
                  <c:v>8800.82</c:v>
                </c:pt>
                <c:pt idx="4">
                  <c:v>1567.59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35-4D4E-9016-E37D876946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56132799"/>
        <c:axId val="1956141919"/>
      </c:barChart>
      <c:catAx>
        <c:axId val="19561327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6141919"/>
        <c:crosses val="autoZero"/>
        <c:auto val="1"/>
        <c:lblAlgn val="ctr"/>
        <c:lblOffset val="100"/>
        <c:noMultiLvlLbl val="0"/>
      </c:catAx>
      <c:valAx>
        <c:axId val="19561419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61327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Freight as % of Revenue by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Freight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CD</c:v>
                </c:pt>
                <c:pt idx="1">
                  <c:v>SS</c:v>
                </c:pt>
                <c:pt idx="2">
                  <c:v>FD</c:v>
                </c:pt>
                <c:pt idx="3">
                  <c:v>EL</c:v>
                </c:pt>
                <c:pt idx="4">
                  <c:v>FS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224.99</c:v>
                </c:pt>
                <c:pt idx="1">
                  <c:v>6507.82</c:v>
                </c:pt>
                <c:pt idx="2">
                  <c:v>4507.99</c:v>
                </c:pt>
                <c:pt idx="3">
                  <c:v>46578.32</c:v>
                </c:pt>
                <c:pt idx="4">
                  <c:v>578.13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38-40EA-8DCF-BD4B19191C9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CD</c:v>
                </c:pt>
                <c:pt idx="1">
                  <c:v>SS</c:v>
                </c:pt>
                <c:pt idx="2">
                  <c:v>FD</c:v>
                </c:pt>
                <c:pt idx="3">
                  <c:v>EL</c:v>
                </c:pt>
                <c:pt idx="4">
                  <c:v>FS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730</c:v>
                </c:pt>
                <c:pt idx="1">
                  <c:v>21509.23</c:v>
                </c:pt>
                <c:pt idx="2">
                  <c:v>15179.48</c:v>
                </c:pt>
                <c:pt idx="3">
                  <c:v>160246.74</c:v>
                </c:pt>
                <c:pt idx="4">
                  <c:v>2119.5100000000002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438-40EA-8DCF-BD4B19191C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56132799"/>
        <c:axId val="1956141919"/>
      </c:barChart>
      <c:catAx>
        <c:axId val="19561327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6141919"/>
        <c:crosses val="autoZero"/>
        <c:auto val="1"/>
        <c:lblAlgn val="ctr"/>
        <c:lblOffset val="100"/>
        <c:noMultiLvlLbl val="0"/>
      </c:catAx>
      <c:valAx>
        <c:axId val="19561419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61327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Reviews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F2B-4ADE-A6BA-1606FD67639F}"/>
              </c:ext>
            </c:extLst>
          </c:dPt>
          <c:dPt>
            <c:idx val="1"/>
            <c:bubble3D val="0"/>
            <c:spPr>
              <a:solidFill>
                <a:srgbClr val="86EF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F2B-4ADE-A6BA-1606FD67639F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F2B-4ADE-A6BA-1606FD67639F}"/>
              </c:ext>
            </c:extLst>
          </c:dPt>
          <c:dPt>
            <c:idx val="3"/>
            <c:bubble3D val="0"/>
            <c:spPr>
              <a:solidFill>
                <a:srgbClr val="FCA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F2B-4ADE-A6BA-1606FD67639F}"/>
              </c:ext>
            </c:extLst>
          </c:dPt>
          <c:dPt>
            <c:idx val="4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F2B-4ADE-A6BA-1606FD67639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F2B-4ADE-A6BA-1606FD67639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F2B-4ADE-A6BA-1606FD67639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F2B-4ADE-A6BA-1606FD67639F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F2B-4ADE-A6BA-1606FD67639F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F2B-4ADE-A6BA-1606FD67639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5 star</c:v>
                </c:pt>
                <c:pt idx="1">
                  <c:v>4 star</c:v>
                </c:pt>
                <c:pt idx="2">
                  <c:v>3 star</c:v>
                </c:pt>
                <c:pt idx="3">
                  <c:v>2 star</c:v>
                </c:pt>
                <c:pt idx="4">
                  <c:v>1 star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57328</c:v>
                </c:pt>
                <c:pt idx="1">
                  <c:v>19142</c:v>
                </c:pt>
                <c:pt idx="2">
                  <c:v>8179</c:v>
                </c:pt>
                <c:pt idx="3">
                  <c:v>3151</c:v>
                </c:pt>
                <c:pt idx="4">
                  <c:v>11424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F2B-4ADE-A6BA-1606FD6763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Buyers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751-4203-B546-50F0C592D687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751-4203-B546-50F0C592D68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751-4203-B546-50F0C592D68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751-4203-B546-50F0C592D68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One-time buyers</c:v>
                </c:pt>
                <c:pt idx="1">
                  <c:v>Repeat buyers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93099</c:v>
                </c:pt>
                <c:pt idx="1">
                  <c:v>2997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751-4203-B546-50F0C592D6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135-4EDB-967D-A064AD00A32B}"/>
              </c:ext>
            </c:extLst>
          </c:dPt>
          <c:dPt>
            <c:idx val="1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35-4EDB-967D-A064AD00A32B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135-4EDB-967D-A064AD00A32B}"/>
              </c:ext>
            </c:extLst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135-4EDB-967D-A064AD00A32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76,505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135-4EDB-967D-A064AD00A32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3,866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E135-4EDB-967D-A064AD00A32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1,528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E135-4EDB-967D-A064AD00A32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Credit Card</c:v>
                </c:pt>
                <c:pt idx="1">
                  <c:v>Boleto</c:v>
                </c:pt>
                <c:pt idx="2">
                  <c:v>Voucher</c:v>
                </c:pt>
                <c:pt idx="3">
                  <c:v>Debit Card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76505</c:v>
                </c:pt>
                <c:pt idx="1">
                  <c:v>19784</c:v>
                </c:pt>
                <c:pt idx="2">
                  <c:v>3866</c:v>
                </c:pt>
                <c:pt idx="3">
                  <c:v>1529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135-4EDB-967D-A064AD00A3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0449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2A4E1-481A-35C9-12BE-C4E9A9E0B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0540B-4930-18B8-030B-F789C9C1E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0E06E3-D0C9-89E0-2673-73AC4A807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75D49-DA19-0093-7DD2-69C98BEB3D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691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4D8C5-C2F3-5FDB-E332-F2CD6B83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2E40C-E4EB-BAED-4473-0A722B8812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801499-451F-72F6-AC4A-AEB3B8B3E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62315-D9E3-BE87-35F8-DB4FB0967D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718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0" dirty="0">
                <a:solidFill>
                  <a:srgbClr val="5EEAD4"/>
                </a:solidFill>
              </a:rPr>
              <a:t>OLIST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E-Commerce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Analytics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Executive Performance Report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566160"/>
            <a:ext cx="1371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Sep 2016 – Aug 2018  ·  Brazil  ·  99,441 orders  ·  3,095 sellers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Executive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EAD4"/>
                </a:solidFill>
              </a:rPr>
              <a:t>Key metrics at a glance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1965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97840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Total GMV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21615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R$13.2M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1480" y="16916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Item revenue (excl. freight)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868680"/>
            <a:ext cx="1965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23160" y="86868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0" y="97840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Total Orders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121615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99,441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560320" y="16916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Sep 2016 – Aug 2018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868680"/>
            <a:ext cx="1965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0" y="86868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97840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Avg Order Value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121615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R</a:t>
            </a:r>
            <a:r>
              <a:rPr lang="en-US" sz="2400" b="1">
                <a:solidFill>
                  <a:srgbClr val="1E293B"/>
                </a:solidFill>
              </a:rPr>
              <a:t>$137.04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709160" y="16916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Per delivered order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20840" y="868680"/>
            <a:ext cx="1965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20840" y="86868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0" y="97840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Active Sellers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121615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3,095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858000" y="16916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32,951 unique products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240280"/>
            <a:ext cx="1965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2240280"/>
            <a:ext cx="19659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235000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Avg Review Score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258775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4.09 / 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11480" y="30632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Out of 99K reviews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23160" y="2240280"/>
            <a:ext cx="1965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423160" y="2240280"/>
            <a:ext cx="1965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560320" y="235000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On-Time Delivery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60320" y="258775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91.9%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2560320" y="30632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7,826 late deliveries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2240280"/>
            <a:ext cx="1965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72000" y="2240280"/>
            <a:ext cx="19659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09160" y="235000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Freight % of GMV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09160" y="258775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16.6%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4709160" y="30632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R$2.19M freight total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20840" y="2240280"/>
            <a:ext cx="1965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720840" y="2240280"/>
            <a:ext cx="19659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58000" y="235000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Repeat Buyers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0" y="258775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3.1%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6858000" y="30632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96.9% one-time buyers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4069080"/>
            <a:ext cx="859536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Key story: Strong GMV growth — but a 97% one-time buyer rate and 16.6% freight cost signal two critical risks that need addressing.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600" dirty="0">
                <a:solidFill>
                  <a:srgbClr val="5EEAD4"/>
                </a:solidFill>
              </a:rPr>
              <a:t>DOMAIN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Revenue &amp;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GMV Analysis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7F4D0D-B271-96A7-A509-BED243C54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3E39C80-6072-4BA6-39CC-BC64A2C23EF7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563B046-4F6D-D19E-8A18-15AA8F8F83BA}"/>
              </a:ext>
            </a:extLst>
          </p:cNvPr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001AF8C-C6DF-EA40-0F9B-9B99B4850D59}"/>
              </a:ext>
            </a:extLst>
          </p:cNvPr>
          <p:cNvSpPr/>
          <p:nvPr/>
        </p:nvSpPr>
        <p:spPr>
          <a:xfrm>
            <a:off x="34747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Monthly Revenue Trend</a:t>
            </a: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E4CC085-A8BA-9D85-F7A8-98F5EE1E7A58}"/>
              </a:ext>
            </a:extLst>
          </p:cNvPr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EAD4"/>
                </a:solidFill>
              </a:rPr>
              <a:t>Metric 02 &amp; 08</a:t>
            </a:r>
            <a:endParaRPr lang="en-US" sz="1000" dirty="0"/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D987BF1C-3297-B6EF-591B-36E7C2D3AB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8668450"/>
              </p:ext>
            </p:extLst>
          </p:nvPr>
        </p:nvGraphicFramePr>
        <p:xfrm>
          <a:off x="274320" y="77724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>
            <a:extLst>
              <a:ext uri="{FF2B5EF4-FFF2-40B4-BE49-F238E27FC236}">
                <a16:creationId xmlns:a16="http://schemas.microsoft.com/office/drawing/2014/main" id="{7C5E476D-F998-AED4-B779-3A528870E408}"/>
              </a:ext>
            </a:extLst>
          </p:cNvPr>
          <p:cNvSpPr/>
          <p:nvPr/>
        </p:nvSpPr>
        <p:spPr>
          <a:xfrm>
            <a:off x="6035040" y="77724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8D61CE9-CD8B-D592-9BEC-BBA6C8B2C559}"/>
              </a:ext>
            </a:extLst>
          </p:cNvPr>
          <p:cNvSpPr/>
          <p:nvPr/>
        </p:nvSpPr>
        <p:spPr>
          <a:xfrm>
            <a:off x="6035040" y="777240"/>
            <a:ext cx="28346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67CE038-0033-0975-37E3-2AD4D8D86510}"/>
              </a:ext>
            </a:extLst>
          </p:cNvPr>
          <p:cNvSpPr/>
          <p:nvPr/>
        </p:nvSpPr>
        <p:spPr>
          <a:xfrm>
            <a:off x="6172200" y="8869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Nov 2017 Peak</a:t>
            </a:r>
            <a:endParaRPr lang="en-US" sz="10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1FC42EC-13A2-EE67-5E6F-96FDCF164E9B}"/>
              </a:ext>
            </a:extLst>
          </p:cNvPr>
          <p:cNvSpPr/>
          <p:nvPr/>
        </p:nvSpPr>
        <p:spPr>
          <a:xfrm>
            <a:off x="6172200" y="11155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R$1.01M</a:t>
            </a:r>
            <a:endParaRPr lang="en-US" sz="22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BB0A780-321E-B3DB-B3F7-383DCCB4B2D0}"/>
              </a:ext>
            </a:extLst>
          </p:cNvPr>
          <p:cNvSpPr/>
          <p:nvPr/>
        </p:nvSpPr>
        <p:spPr>
          <a:xfrm>
            <a:off x="6035040" y="201168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27FFFD3-E1A9-A10D-629F-EDB2B3465D93}"/>
              </a:ext>
            </a:extLst>
          </p:cNvPr>
          <p:cNvSpPr/>
          <p:nvPr/>
        </p:nvSpPr>
        <p:spPr>
          <a:xfrm>
            <a:off x="6035040" y="2011680"/>
            <a:ext cx="2834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09B332F-6A9C-6487-5769-C0806D071D4B}"/>
              </a:ext>
            </a:extLst>
          </p:cNvPr>
          <p:cNvSpPr/>
          <p:nvPr/>
        </p:nvSpPr>
        <p:spPr>
          <a:xfrm>
            <a:off x="6172200" y="21214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Best 6-month avg</a:t>
            </a:r>
            <a:endParaRPr lang="en-US" sz="1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402F485-1F3B-CDCA-53F6-72D99ABF789B}"/>
              </a:ext>
            </a:extLst>
          </p:cNvPr>
          <p:cNvSpPr/>
          <p:nvPr/>
        </p:nvSpPr>
        <p:spPr>
          <a:xfrm>
            <a:off x="6172200" y="23500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R$946K / mo</a:t>
            </a:r>
            <a:endParaRPr lang="en-US" sz="22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77271052-F557-964D-B286-6D5F369364E1}"/>
              </a:ext>
            </a:extLst>
          </p:cNvPr>
          <p:cNvSpPr/>
          <p:nvPr/>
        </p:nvSpPr>
        <p:spPr>
          <a:xfrm>
            <a:off x="6035040" y="324612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6AF6384F-CA8B-0535-820B-BEEFBDBE704C}"/>
              </a:ext>
            </a:extLst>
          </p:cNvPr>
          <p:cNvSpPr/>
          <p:nvPr/>
        </p:nvSpPr>
        <p:spPr>
          <a:xfrm>
            <a:off x="6035040" y="3246120"/>
            <a:ext cx="28346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F7B6480-B39E-C6A0-3F12-505E2001E359}"/>
              </a:ext>
            </a:extLst>
          </p:cNvPr>
          <p:cNvSpPr/>
          <p:nvPr/>
        </p:nvSpPr>
        <p:spPr>
          <a:xfrm>
            <a:off x="6172200" y="33558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2-year growth</a:t>
            </a:r>
            <a:endParaRPr lang="en-US" sz="10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910D2F0-8CB3-B1C5-BABD-A5ED084B0B8B}"/>
              </a:ext>
            </a:extLst>
          </p:cNvPr>
          <p:cNvSpPr/>
          <p:nvPr/>
        </p:nvSpPr>
        <p:spPr>
          <a:xfrm>
            <a:off x="6172200" y="35844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+2,394%</a:t>
            </a:r>
            <a:endParaRPr lang="en-US" sz="22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F5B9558-4DC3-18DC-C8FF-D464C7FDC424}"/>
              </a:ext>
            </a:extLst>
          </p:cNvPr>
          <p:cNvSpPr/>
          <p:nvPr/>
        </p:nvSpPr>
        <p:spPr>
          <a:xfrm>
            <a:off x="274320" y="45720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PBI: Line chart · X = month · Y = revenue · Add MoM % change as secondary axis (metric 08)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221517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Revenue by Product Category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EAD4"/>
                </a:solidFill>
              </a:rPr>
              <a:t>Metric 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8412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Health &amp; Beauty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896112"/>
            <a:ext cx="329184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468880" y="896112"/>
            <a:ext cx="3291840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852160" y="8412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93B"/>
                </a:solidFill>
              </a:rPr>
              <a:t>R$1259K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24358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Watches &amp; Gifts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298448"/>
            <a:ext cx="329184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68880" y="1298448"/>
            <a:ext cx="3151461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52160" y="124358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93B"/>
                </a:solidFill>
              </a:rPr>
              <a:t>R$1205K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16459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Bed, Bath &amp; Table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0" y="1700784"/>
            <a:ext cx="329184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68880" y="1700784"/>
            <a:ext cx="271204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52160" y="16459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93B"/>
                </a:solidFill>
              </a:rPr>
              <a:t>R$1037K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20482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Sports &amp; Leisure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68880" y="2103120"/>
            <a:ext cx="329184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468880" y="2103120"/>
            <a:ext cx="2584051" cy="146304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52160" y="20482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93B"/>
                </a:solidFill>
              </a:rPr>
              <a:t>R$988K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24505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Computers &amp; Acc.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68880" y="2505456"/>
            <a:ext cx="329184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468880" y="2505456"/>
            <a:ext cx="2385042" cy="146304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52160" y="2450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93B"/>
                </a:solidFill>
              </a:rPr>
              <a:t>R$912K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28529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Furniture &amp; Decor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68880" y="2907792"/>
            <a:ext cx="329184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468880" y="2907792"/>
            <a:ext cx="1908553" cy="146304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52160" y="28529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93B"/>
                </a:solidFill>
              </a:rPr>
              <a:t>R$730K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32552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Cool Stuff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68880" y="3310128"/>
            <a:ext cx="329184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468880" y="3310128"/>
            <a:ext cx="1661480" cy="146304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852160" y="32552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93B"/>
                </a:solidFill>
              </a:rPr>
              <a:t>R$635K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36576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Housewares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68880" y="3712464"/>
            <a:ext cx="329184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468880" y="3712464"/>
            <a:ext cx="1653524" cy="146304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852160" y="36576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93B"/>
                </a:solidFill>
              </a:rPr>
              <a:t>R$632K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0599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Auto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68880" y="4114800"/>
            <a:ext cx="329184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468880" y="4114800"/>
            <a:ext cx="1550146" cy="146304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852160" y="405993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93B"/>
                </a:solidFill>
              </a:rPr>
              <a:t>R$593K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4320" y="44622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Garden Tools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468880" y="4517136"/>
            <a:ext cx="329184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468880" y="4517136"/>
            <a:ext cx="1269094" cy="146304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852160" y="44622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93B"/>
                </a:solidFill>
              </a:rPr>
              <a:t>R$485K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600" dirty="0">
                <a:solidFill>
                  <a:srgbClr val="5EEAD4"/>
                </a:solidFill>
              </a:rPr>
              <a:t>DOMAIN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Freight &amp;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Cost Analysis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38913-29F4-1A34-3348-FFF03D7EA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3630F1-CC83-E76C-4CD7-0284CD5C9E57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E1A36BD-5618-FF20-6411-30229AD3EC09}"/>
              </a:ext>
            </a:extLst>
          </p:cNvPr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BF83EF3-D198-EBED-53FB-629057A33329}"/>
              </a:ext>
            </a:extLst>
          </p:cNvPr>
          <p:cNvSpPr/>
          <p:nvPr/>
        </p:nvSpPr>
        <p:spPr>
          <a:xfrm>
            <a:off x="34747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Freight Cost Overview</a:t>
            </a: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D954F2E-2097-0B84-D41F-FD32AD537BE4}"/>
              </a:ext>
            </a:extLst>
          </p:cNvPr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EAD4"/>
                </a:solidFill>
              </a:rPr>
              <a:t>Metrics 09 – 13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A5C5833-AB6F-BA9F-87EE-E2E88B1C780F}"/>
              </a:ext>
            </a:extLst>
          </p:cNvPr>
          <p:cNvSpPr/>
          <p:nvPr/>
        </p:nvSpPr>
        <p:spPr>
          <a:xfrm>
            <a:off x="274320" y="841248"/>
            <a:ext cx="26517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1D6E447-33CF-DA99-2B14-49BE5119694E}"/>
              </a:ext>
            </a:extLst>
          </p:cNvPr>
          <p:cNvSpPr/>
          <p:nvPr/>
        </p:nvSpPr>
        <p:spPr>
          <a:xfrm>
            <a:off x="274320" y="841248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7C1F073-5F33-67A0-D595-A4F354F6F99C}"/>
              </a:ext>
            </a:extLst>
          </p:cNvPr>
          <p:cNvSpPr/>
          <p:nvPr/>
        </p:nvSpPr>
        <p:spPr>
          <a:xfrm>
            <a:off x="411480" y="9509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Total Freight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961ED8D-A3ED-936B-E256-DFF3C8C126D8}"/>
              </a:ext>
            </a:extLst>
          </p:cNvPr>
          <p:cNvSpPr/>
          <p:nvPr/>
        </p:nvSpPr>
        <p:spPr>
          <a:xfrm>
            <a:off x="411480" y="1188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R$2.19M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2896AD1-26F6-BA0B-AB43-56A41A95873D}"/>
              </a:ext>
            </a:extLst>
          </p:cNvPr>
          <p:cNvSpPr/>
          <p:nvPr/>
        </p:nvSpPr>
        <p:spPr>
          <a:xfrm>
            <a:off x="411480" y="16642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Paid by customers</a:t>
            </a:r>
            <a:endParaRPr lang="en-US" sz="9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7F0739E-5B0A-5091-71D3-A431751C5560}"/>
              </a:ext>
            </a:extLst>
          </p:cNvPr>
          <p:cNvSpPr/>
          <p:nvPr/>
        </p:nvSpPr>
        <p:spPr>
          <a:xfrm>
            <a:off x="3108960" y="841248"/>
            <a:ext cx="26517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843533C-003F-6503-B1D2-843905A159B5}"/>
              </a:ext>
            </a:extLst>
          </p:cNvPr>
          <p:cNvSpPr/>
          <p:nvPr/>
        </p:nvSpPr>
        <p:spPr>
          <a:xfrm>
            <a:off x="3108960" y="841248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546A060-03F6-D25B-1C19-9E3B94478CE5}"/>
              </a:ext>
            </a:extLst>
          </p:cNvPr>
          <p:cNvSpPr/>
          <p:nvPr/>
        </p:nvSpPr>
        <p:spPr>
          <a:xfrm>
            <a:off x="3246120" y="9509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Freight % of GMV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D9AFB97-4081-1A21-4848-9E169BFED9C5}"/>
              </a:ext>
            </a:extLst>
          </p:cNvPr>
          <p:cNvSpPr/>
          <p:nvPr/>
        </p:nvSpPr>
        <p:spPr>
          <a:xfrm>
            <a:off x="3246120" y="1188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16.6%</a:t>
            </a:r>
            <a:endParaRPr lang="en-US" sz="2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551E96C-23A9-1C2D-F629-22D135555D2D}"/>
              </a:ext>
            </a:extLst>
          </p:cNvPr>
          <p:cNvSpPr/>
          <p:nvPr/>
        </p:nvSpPr>
        <p:spPr>
          <a:xfrm>
            <a:off x="3246120" y="16642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Industry avg ~10%</a:t>
            </a:r>
            <a:endParaRPr lang="en-US" sz="9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F4A5CA2-2972-F147-692F-4570FC876BDE}"/>
              </a:ext>
            </a:extLst>
          </p:cNvPr>
          <p:cNvSpPr/>
          <p:nvPr/>
        </p:nvSpPr>
        <p:spPr>
          <a:xfrm>
            <a:off x="5943600" y="841248"/>
            <a:ext cx="26517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C90F861-216B-F049-2922-22C95CFCF382}"/>
              </a:ext>
            </a:extLst>
          </p:cNvPr>
          <p:cNvSpPr/>
          <p:nvPr/>
        </p:nvSpPr>
        <p:spPr>
          <a:xfrm>
            <a:off x="5943600" y="841248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28990E1-1CBE-E425-31FE-FD4F2C137146}"/>
              </a:ext>
            </a:extLst>
          </p:cNvPr>
          <p:cNvSpPr/>
          <p:nvPr/>
        </p:nvSpPr>
        <p:spPr>
          <a:xfrm>
            <a:off x="6080760" y="9509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Avg Freight / Order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391D36B-F6B9-7F30-520F-1163DD7E726F}"/>
              </a:ext>
            </a:extLst>
          </p:cNvPr>
          <p:cNvSpPr/>
          <p:nvPr/>
        </p:nvSpPr>
        <p:spPr>
          <a:xfrm>
            <a:off x="6080760" y="1188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R$22.65</a:t>
            </a:r>
            <a:endParaRPr lang="en-US" sz="2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B92EC5B-090E-432D-C28C-A403721EF44F}"/>
              </a:ext>
            </a:extLst>
          </p:cNvPr>
          <p:cNvSpPr/>
          <p:nvPr/>
        </p:nvSpPr>
        <p:spPr>
          <a:xfrm>
            <a:off x="6080760" y="16642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Per delivered order</a:t>
            </a:r>
            <a:endParaRPr lang="en-US" sz="9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0C784FB-94FB-859B-078C-8B47473D4899}"/>
              </a:ext>
            </a:extLst>
          </p:cNvPr>
          <p:cNvSpPr/>
          <p:nvPr/>
        </p:nvSpPr>
        <p:spPr>
          <a:xfrm>
            <a:off x="274320" y="2194560"/>
            <a:ext cx="85953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82" name="Chart 81">
            <a:extLst>
              <a:ext uri="{FF2B5EF4-FFF2-40B4-BE49-F238E27FC236}">
                <a16:creationId xmlns:a16="http://schemas.microsoft.com/office/drawing/2014/main" id="{20EB83FF-BC96-8866-DF6C-BB180C278F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8649243"/>
              </p:ext>
            </p:extLst>
          </p:nvPr>
        </p:nvGraphicFramePr>
        <p:xfrm>
          <a:off x="274320" y="2238120"/>
          <a:ext cx="4297680" cy="2699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4" name="Chart 83">
            <a:extLst>
              <a:ext uri="{FF2B5EF4-FFF2-40B4-BE49-F238E27FC236}">
                <a16:creationId xmlns:a16="http://schemas.microsoft.com/office/drawing/2014/main" id="{690F8A1A-D25E-6A02-CE25-312CD7BB6B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5694780"/>
              </p:ext>
            </p:extLst>
          </p:nvPr>
        </p:nvGraphicFramePr>
        <p:xfrm>
          <a:off x="4434840" y="2287211"/>
          <a:ext cx="4297680" cy="2699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74353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Loss-Making Categories — Freight Risk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EAD4"/>
                </a:solidFill>
              </a:rPr>
              <a:t>Metric 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6459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90525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Flowers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320040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2816352" cy="1463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0" y="905256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4444"/>
                </a:solidFill>
              </a:rPr>
              <a:t>44.0%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90525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</a:rPr>
              <a:t>CRITICAL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1335024"/>
            <a:ext cx="85953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1335024"/>
            <a:ext cx="16459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13990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Furniture (Mattress)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453896"/>
            <a:ext cx="320040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46320" y="1453896"/>
            <a:ext cx="2387498" cy="1463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0" y="139903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4444"/>
                </a:solidFill>
              </a:rPr>
              <a:t>37.3%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139903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</a:rPr>
              <a:t>CRITICAL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1828800"/>
            <a:ext cx="85953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1828800"/>
            <a:ext cx="16459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18928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Christmas Supplies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1947672"/>
            <a:ext cx="320040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1947672"/>
            <a:ext cx="2349094" cy="1463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0" y="189280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4444"/>
                </a:solidFill>
              </a:rPr>
              <a:t>36.7%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0" y="189280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</a:rPr>
              <a:t>CRITICAL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2322576"/>
            <a:ext cx="85953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2322576"/>
            <a:ext cx="16459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238658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Diapers &amp; Hygiene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2441448"/>
            <a:ext cx="320040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2441448"/>
            <a:ext cx="2342693" cy="1463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29600" y="2386584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4444"/>
                </a:solidFill>
              </a:rPr>
              <a:t>36.6%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0" y="2386584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</a:rPr>
              <a:t>CRITICAL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2816352"/>
            <a:ext cx="85953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4320" y="2816352"/>
            <a:ext cx="16459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28803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Signaling &amp; Security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2935224"/>
            <a:ext cx="320040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46320" y="2935224"/>
            <a:ext cx="1939442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229600" y="28803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</a:rPr>
              <a:t>30.3%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14800" y="288036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</a:rPr>
              <a:t>AT RISK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3310128"/>
            <a:ext cx="85953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74320" y="3310128"/>
            <a:ext cx="16459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48640" y="337413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Food &amp; Drink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46320" y="3429000"/>
            <a:ext cx="320040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46320" y="3429000"/>
            <a:ext cx="1901038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229600" y="3374136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</a:rPr>
              <a:t>29.7%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114800" y="337413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</a:rPr>
              <a:t>AT RISK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74320" y="3803904"/>
            <a:ext cx="85953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74320" y="3803904"/>
            <a:ext cx="16459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48640" y="38679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CDs &amp; DVDs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846320" y="3922776"/>
            <a:ext cx="320040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846320" y="3922776"/>
            <a:ext cx="1971446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229600" y="386791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</a:rPr>
              <a:t>30.8%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114800" y="38679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</a:rPr>
              <a:t>AT RISK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74320" y="4297680"/>
            <a:ext cx="85953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74320" y="4297680"/>
            <a:ext cx="164592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48640" y="43616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Office Furniture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846320" y="4416552"/>
            <a:ext cx="320040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846320" y="4416552"/>
            <a:ext cx="1849831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8229600" y="436168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28.9%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114800" y="436168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WATCH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600" dirty="0">
                <a:solidFill>
                  <a:srgbClr val="5EEAD4"/>
                </a:solidFill>
              </a:rPr>
              <a:t>DOMAIN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Delivery &amp;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Operations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Delivery Performance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EAD4"/>
                </a:solidFill>
              </a:rPr>
              <a:t>Metrics 15 – 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965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9659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95097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On-Time Rate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1887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91.9%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1480" y="166420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88,644 orders on time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841248"/>
            <a:ext cx="1965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23160" y="841248"/>
            <a:ext cx="19659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0" y="95097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Late Deliveries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11887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8.1%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560320" y="166420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7,826 orders late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841248"/>
            <a:ext cx="1965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0" y="841248"/>
            <a:ext cx="1965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95097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Avg Delivery Time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11887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12.1 days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709160" y="166420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Purchase to door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20840" y="841248"/>
            <a:ext cx="1965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20840" y="841248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0" y="95097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Avg Days Early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11887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12.7 days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858000" y="166420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When arriving before estimate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194560"/>
            <a:ext cx="85953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2286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Average delivery days by state — slowest 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26517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05840" y="2706624"/>
            <a:ext cx="320040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05840" y="2706624"/>
            <a:ext cx="3017520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343400" y="26517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29.0 days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1089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05840" y="3163824"/>
            <a:ext cx="320040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05840" y="3163824"/>
            <a:ext cx="268815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343400" y="3108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26.0 days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35661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05840" y="3621024"/>
            <a:ext cx="320040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05841" y="3621024"/>
            <a:ext cx="2430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343400" y="35661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23.3 days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0233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05840" y="4078224"/>
            <a:ext cx="320040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005840" y="4078224"/>
            <a:ext cx="2430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343400" y="40233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21.0 days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0" y="26517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000" dirty="0">
                <a:solidFill>
                  <a:srgbClr val="1E293B"/>
                </a:solidFill>
              </a:rPr>
              <a:t>A</a:t>
            </a:r>
            <a:r>
              <a:rPr lang="en-US" sz="1000" dirty="0">
                <a:solidFill>
                  <a:srgbClr val="1E293B"/>
                </a:solidFill>
              </a:rPr>
              <a:t>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120640" y="2706624"/>
            <a:ext cx="320040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120640" y="2706624"/>
            <a:ext cx="2651760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458200" y="26517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26.7 days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0" y="31089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120640" y="3163824"/>
            <a:ext cx="320040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120640" y="3163824"/>
            <a:ext cx="2290286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458200" y="3108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24.0 days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0" y="35661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120640" y="3621024"/>
            <a:ext cx="320040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120640" y="3621024"/>
            <a:ext cx="2170271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458200" y="35661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21.1 days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572000" y="40233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120640" y="4078224"/>
            <a:ext cx="3200400" cy="14630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120640" y="4078224"/>
            <a:ext cx="2040255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458200" y="40233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20.8 days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600" dirty="0">
                <a:solidFill>
                  <a:srgbClr val="5EEAD4"/>
                </a:solidFill>
              </a:rPr>
              <a:t>DOMAIN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Customer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Satisfaction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Review Score Analysis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EAD4"/>
                </a:solidFill>
              </a:rPr>
              <a:t>Metrics 23 – 26 &amp; 30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081464966"/>
              </p:ext>
            </p:extLst>
          </p:nvPr>
        </p:nvGraphicFramePr>
        <p:xfrm>
          <a:off x="274320" y="777240"/>
          <a:ext cx="41148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663440" y="77724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663440" y="777240"/>
            <a:ext cx="4206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00600" y="8869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Overall Avg Score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800600" y="112471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4.09 / 5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800600" y="16002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99K reviews total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63440" y="1965960"/>
            <a:ext cx="4206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63440" y="1965960"/>
            <a:ext cx="42062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00600" y="207568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On-time vs late score gap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00600" y="230428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</a:rPr>
              <a:t>4.29  </a:t>
            </a:r>
            <a:r>
              <a:rPr lang="en-US" sz="1100" dirty="0">
                <a:solidFill>
                  <a:srgbClr val="64748B"/>
                </a:solidFill>
              </a:rPr>
              <a:t>on-time  </a:t>
            </a:r>
            <a:r>
              <a:rPr lang="en-US" sz="2000" b="1" dirty="0">
                <a:solidFill>
                  <a:srgbClr val="EF4444"/>
                </a:solidFill>
              </a:rPr>
              <a:t>2.57  </a:t>
            </a:r>
            <a:r>
              <a:rPr lang="en-US" sz="1100" dirty="0">
                <a:solidFill>
                  <a:srgbClr val="64748B"/>
                </a:solidFill>
              </a:rPr>
              <a:t>late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663440" y="3200400"/>
            <a:ext cx="420624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800600" y="32461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Late deliveries cause a 40% collapse in satisfaction score. Fixing delivery punctuality is the single highest-leverage product action.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High Revenue / Low Rating — Seller Risk Register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EAD4"/>
                </a:solidFill>
              </a:rPr>
              <a:t>Metric 29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These sellers generate significant revenue but have avg ratings below 3.5 — they are a churn risk.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859536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Seller ID (sample)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0" y="11155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Revenue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20640" y="11155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Avg Score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11556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Orders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11556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444752"/>
            <a:ext cx="85953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5760" y="144475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effectLst/>
                <a:latin typeface="Calibri" panose="020F0502020204030204" pitchFamily="34" charset="0"/>
              </a:rPr>
              <a:t>7c67e1448b00f6e969d365cea6b010ab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0" y="144475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R$241,400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144475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3.35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444752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982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0" y="144475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F59E0B"/>
                </a:solidFill>
              </a:rPr>
              <a:t>MED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1865376"/>
            <a:ext cx="8595360" cy="402336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186537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712e6ed8aa4aa1fa65dab41fed5737e4</a:t>
            </a:r>
          </a:p>
        </p:txBody>
      </p:sp>
      <p:sp>
        <p:nvSpPr>
          <p:cNvPr id="21" name="Text 19"/>
          <p:cNvSpPr/>
          <p:nvPr/>
        </p:nvSpPr>
        <p:spPr>
          <a:xfrm>
            <a:off x="3840480" y="186537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R$46,800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186537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000" dirty="0">
                <a:solidFill>
                  <a:srgbClr val="1E293B"/>
                </a:solidFill>
              </a:rPr>
              <a:t>3</a:t>
            </a:r>
            <a:r>
              <a:rPr lang="en-US" sz="1000" dirty="0">
                <a:solidFill>
                  <a:srgbClr val="1E293B"/>
                </a:solidFill>
              </a:rPr>
              <a:t>.46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1865376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79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0" y="1865376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F59E0B"/>
                </a:solidFill>
              </a:rPr>
              <a:t>MED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286000"/>
            <a:ext cx="85953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228600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2eb70248d66e0e3ef83659f71b244378</a:t>
            </a:r>
          </a:p>
        </p:txBody>
      </p:sp>
      <p:sp>
        <p:nvSpPr>
          <p:cNvPr id="27" name="Text 25"/>
          <p:cNvSpPr/>
          <p:nvPr/>
        </p:nvSpPr>
        <p:spPr>
          <a:xfrm>
            <a:off x="3840480" y="228600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R$46,000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228600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2.71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228600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202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0" y="2286000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HIGH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2706624"/>
            <a:ext cx="8595360" cy="402336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270662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b1b3948701c5c72445495bd161b83a4c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40480" y="270662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R$25,200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0" y="270662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1.72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270662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18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0" y="2706624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HIGH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127248"/>
            <a:ext cx="85953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312724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b37c4c02bda3161a7546a4e6d222d5b2</a:t>
            </a:r>
          </a:p>
        </p:txBody>
      </p:sp>
      <p:sp>
        <p:nvSpPr>
          <p:cNvPr id="39" name="Text 37"/>
          <p:cNvSpPr/>
          <p:nvPr/>
        </p:nvSpPr>
        <p:spPr>
          <a:xfrm>
            <a:off x="3840480" y="312724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R$24,500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20640" y="312724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1.4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0" y="312724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15200" y="312724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EF4444"/>
                </a:solidFill>
              </a:rPr>
              <a:t>HIGH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593592"/>
            <a:ext cx="8595360" cy="82296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" y="363931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</a:rPr>
              <a:t>Recommendation: Flag these sellers for account review. A seller with R$241K revenue and a 3.3 avg score is generating meaningful income but quietly destroying NPS. Consider seller performance SLAs.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600" dirty="0">
                <a:solidFill>
                  <a:srgbClr val="5EEAD4"/>
                </a:solidFill>
              </a:rPr>
              <a:t>DOMAIN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Customer Behaviour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&amp; Retention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Customer Retention — The Critical Gap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EAD4"/>
                </a:solidFill>
              </a:rPr>
              <a:t>Metrics 31 – 34 &amp; 38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777240"/>
          <a:ext cx="41148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663440" y="77724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663440" y="777240"/>
            <a:ext cx="42062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00600" y="8869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One-time buyers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800600" y="112471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96.9%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800600" y="16002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93,099 customers never returned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63440" y="192024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63440" y="1920240"/>
            <a:ext cx="4206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00600" y="20299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Repeat buyers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00600" y="226771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3.1%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4800600" y="27432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Only 2,997 customers came back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663440" y="306324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663440" y="3063240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00600" y="31729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Avg Repurchase Gap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00600" y="341071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62 days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4800600" y="38862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Among returning customers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74320" y="4224528"/>
            <a:ext cx="85953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57200" y="425196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Every new customer costs acquisition spend. A 96.9% churn rate means almost none of that investment compounds. A loyalty programme targeting the top 10% by CLV would have outsized impact.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600" dirty="0">
                <a:solidFill>
                  <a:srgbClr val="5EEAD4"/>
                </a:solidFill>
              </a:rPr>
              <a:t>DOMAIN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Payments &amp;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Finance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Payment Method &amp; Installment Analysis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EAD4"/>
                </a:solidFill>
              </a:rPr>
              <a:t>Metrics 45 – 50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422071890"/>
              </p:ext>
            </p:extLst>
          </p:nvPr>
        </p:nvGraphicFramePr>
        <p:xfrm>
          <a:off x="274320" y="777240"/>
          <a:ext cx="53035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777240"/>
            <a:ext cx="3017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52160" y="777240"/>
            <a:ext cx="3017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89320" y="8869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Credit Card Share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89320" y="11247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73.9%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989320" y="1600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of all orders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52160" y="2011680"/>
            <a:ext cx="3017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852160" y="2011680"/>
            <a:ext cx="3017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89320" y="21214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Avg Installments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89320" y="23591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3.5x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989320" y="2834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Credit card orders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4320" y="3520440"/>
            <a:ext cx="8595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74320" y="3520440"/>
            <a:ext cx="85953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57200" y="3630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Deferred Revenue Risk — Orders with 10+ Installments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3931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</a:rPr>
              <a:t>5</a:t>
            </a:r>
            <a:r>
              <a:rPr lang="en-US" sz="1800" b="1" dirty="0">
                <a:solidFill>
                  <a:srgbClr val="1E293B"/>
                </a:solidFill>
              </a:rPr>
              <a:t>,656 orders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57200" y="43159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with 10+ installments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606040" y="3931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R$</a:t>
            </a:r>
            <a:r>
              <a:rPr lang="en-US" b="1" dirty="0">
                <a:solidFill>
                  <a:srgbClr val="1E293B"/>
                </a:solidFill>
              </a:rPr>
              <a:t>2</a:t>
            </a:r>
            <a:r>
              <a:rPr lang="en-US" sz="1800" b="1" dirty="0">
                <a:solidFill>
                  <a:srgbClr val="1E293B"/>
                </a:solidFill>
              </a:rPr>
              <a:t>.33M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2606040" y="43159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revenue being collected monthly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754880" y="3931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10.2 avg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754880" y="43159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installments on these orders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903720" y="3931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~11 months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903720" y="43159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until full collection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Seller Performance Quadrant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EAD4"/>
                </a:solidFill>
              </a:rPr>
              <a:t>Metric 43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251960" cy="201168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0" y="777240"/>
            <a:ext cx="4297680" cy="201168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2834640"/>
            <a:ext cx="4251960" cy="2011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0" y="2834640"/>
            <a:ext cx="4297680" cy="2011680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9144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</a:rPr>
              <a:t>STAR PERFORMERS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</a:rPr>
              <a:t>High Revenue · High Rating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9144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1B1B"/>
                </a:solidFill>
              </a:rPr>
              <a:t>RISK SELLERS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91B1B"/>
                </a:solidFill>
              </a:rPr>
              <a:t>High Revenue · Low Rating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718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POTENTIAL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Low Revenue · High Rating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29718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</a:rPr>
              <a:t>UNDERPERFORMERS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</a:rPr>
              <a:t>Low Revenue · Low Rating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1600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6534"/>
                </a:solidFill>
              </a:rPr>
              <a:t>Nurture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66534"/>
                </a:solidFill>
              </a:rPr>
              <a:t>expand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16002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1B1B"/>
                </a:solidFill>
              </a:rPr>
              <a:t>Immediate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91B1B"/>
                </a:solidFill>
              </a:rPr>
              <a:t>review required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Provide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growth support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3657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2400E"/>
                </a:solidFill>
              </a:rPr>
              <a:t>Probation 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2400E"/>
                </a:solidFill>
              </a:rPr>
              <a:t>offboarding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← Lower Revenue          Higher Revenue →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Quadrant — Revenue &amp; Order Distribution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43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2542032" cy="1719072"/>
          </a:xfrm>
          <a:prstGeom prst="rect">
            <a:avLst/>
          </a:prstGeom>
          <a:solidFill>
            <a:srgbClr val="EBF5FB"/>
          </a:solidFill>
          <a:ln w="635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18688" y="1005840"/>
            <a:ext cx="2542032" cy="1719072"/>
          </a:xfrm>
          <a:prstGeom prst="rect">
            <a:avLst/>
          </a:prstGeom>
          <a:solidFill>
            <a:srgbClr val="EAFAF1"/>
          </a:solidFill>
          <a:ln w="63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761488"/>
            <a:ext cx="2542032" cy="1719072"/>
          </a:xfrm>
          <a:prstGeom prst="rect">
            <a:avLst/>
          </a:prstGeom>
          <a:solidFill>
            <a:srgbClr val="F4F4F4"/>
          </a:solidFill>
          <a:ln w="635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18688" y="2761488"/>
            <a:ext cx="2542032" cy="1719072"/>
          </a:xfrm>
          <a:prstGeom prst="rect">
            <a:avLst/>
          </a:prstGeom>
          <a:solidFill>
            <a:srgbClr val="FDEDEC"/>
          </a:solidFill>
          <a:ln w="635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11556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353312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Revenue · High Rating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" y="16459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R$1.67M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77240" y="201168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" y="224028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13,215 orders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111556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1353312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Revenue · High Rating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5848" y="16459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R$8.68M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355848" y="201168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5848" y="224028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50,334 orders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287121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10896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Revenue · Low Rating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" y="3401568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R$5.32M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77240" y="376732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" y="399592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35,751 orders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55848" y="287121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55848" y="310896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Revenue · Low Rating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55848" y="3401568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R$245K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355848" y="376732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55848" y="399592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710 orders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455371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Lower Rating          Higher Rating →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0080" y="8046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Lower Revenue          Higher Revenue →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217920" y="876504"/>
            <a:ext cx="2651760" cy="39698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0" y="1554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0080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R$15.9M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400800" y="2148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0080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100,010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400800" y="27432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Share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40080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400800" y="32186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400800" y="34747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Revenue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0080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R$5.56M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400800" y="39502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400800" y="4140594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00800" y="4160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00800" y="4351225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drive 54.5% of revenue with 50.3% of orders — the most efficient quadrant. Underperformers hold 33.4% of revenue but need rating improvement to retain customers.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seller segmentation by revenue tier and average review rating</a:t>
            </a:r>
            <a:endParaRPr lang="en-US" sz="700" dirty="0"/>
          </a:p>
        </p:txBody>
      </p:sp>
      <p:sp>
        <p:nvSpPr>
          <p:cNvPr id="47" name="Shape 1">
            <a:extLst>
              <a:ext uri="{FF2B5EF4-FFF2-40B4-BE49-F238E27FC236}">
                <a16:creationId xmlns:a16="http://schemas.microsoft.com/office/drawing/2014/main" id="{B81779EE-F550-7893-8A5B-49F58827C73F}"/>
              </a:ext>
            </a:extLst>
          </p:cNvPr>
          <p:cNvSpPr/>
          <p:nvPr/>
        </p:nvSpPr>
        <p:spPr>
          <a:xfrm>
            <a:off x="3622" y="2381"/>
            <a:ext cx="201168" cy="6309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Geographic Overview — Orders &amp; Delivery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EAD4"/>
                </a:solidFill>
              </a:rPr>
              <a:t>Metrics 05 &amp;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412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841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Orders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76672" y="880872"/>
            <a:ext cx="17456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Avg Delivery Days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0" y="841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Revenue Share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8460" y="1197864"/>
            <a:ext cx="85953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1887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71600" y="1271016"/>
            <a:ext cx="3108960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1188720"/>
            <a:ext cx="530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40.949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79847" y="119634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8.3d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0" y="118872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37.0%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517904"/>
            <a:ext cx="8595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151790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RJ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71600" y="1600200"/>
            <a:ext cx="957130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0" y="1517904"/>
            <a:ext cx="530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12,350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76672" y="152450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F59E0B"/>
                </a:solidFill>
              </a:rPr>
              <a:t>14.7d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0" y="151790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13.3%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1847088"/>
            <a:ext cx="85953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184708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371600" y="1929384"/>
            <a:ext cx="866496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0" y="1847088"/>
            <a:ext cx="530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11,544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76672" y="184556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11.5d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0" y="184708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11.8%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176272"/>
            <a:ext cx="8595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65760" y="217627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371600" y="2258568"/>
            <a:ext cx="407071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0" y="2176272"/>
            <a:ext cx="530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5,432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76672" y="2168017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14.7d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0" y="217627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5.6%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2505456"/>
            <a:ext cx="85953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" y="250545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371600" y="2587752"/>
            <a:ext cx="375718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0" y="2505456"/>
            <a:ext cx="530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4,998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79847" y="249072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11.4d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15200" y="250545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5.1%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2834640"/>
            <a:ext cx="8595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283464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SC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371600" y="2916936"/>
            <a:ext cx="270263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0" y="2834640"/>
            <a:ext cx="530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3,612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79847" y="283108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F59E0B"/>
                </a:solidFill>
              </a:rPr>
              <a:t>14.5d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15200" y="283464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3.9%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3163824"/>
            <a:ext cx="85953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65760" y="316382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BA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371600" y="3246120"/>
            <a:ext cx="256262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572000" y="3163824"/>
            <a:ext cx="530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3,358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83022" y="317296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18.8d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315200" y="316382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3.8%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42010" y="3499485"/>
            <a:ext cx="802767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65760" y="349300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DF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371600" y="3575304"/>
            <a:ext cx="159373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572000" y="3493008"/>
            <a:ext cx="530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2,125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383022" y="3499485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12.5d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315200" y="349300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2.2%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74320" y="3822192"/>
            <a:ext cx="85953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65760" y="382219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ES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371600" y="3904488"/>
            <a:ext cx="150436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572000" y="3822192"/>
            <a:ext cx="530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2,025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375910" y="382854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EF4444"/>
                </a:solidFill>
              </a:rPr>
              <a:t>15.2d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315200" y="382219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2.1%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74320" y="4151376"/>
            <a:ext cx="8595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65760" y="415137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000" b="1" dirty="0">
                <a:solidFill>
                  <a:srgbClr val="1E293B"/>
                </a:solidFill>
              </a:rPr>
              <a:t>G</a:t>
            </a:r>
            <a:r>
              <a:rPr lang="en-US" sz="1000" b="1" dirty="0">
                <a:solidFill>
                  <a:srgbClr val="1E293B"/>
                </a:solidFill>
              </a:rPr>
              <a:t>O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371600" y="4233672"/>
            <a:ext cx="128541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571999" y="4151376"/>
            <a:ext cx="53022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2,007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385435" y="415137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14.9d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315200" y="415137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2.2%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Strategic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8229600" cy="749808"/>
          </a:xfrm>
          <a:prstGeom prst="rect">
            <a:avLst/>
          </a:prstGeom>
          <a:solidFill>
            <a:srgbClr val="0A1520"/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41148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411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45389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Renegotiate freight on high-ratio categories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7373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Flowers (44%), mattresses (37%) and christmas supplies (37%) have freight ratios that likely make them unprofitable. Renegotiate carrier rates, add minimum order values, or exit these categories.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8229600" cy="749808"/>
          </a:xfrm>
          <a:prstGeom prst="rect">
            <a:avLst/>
          </a:prstGeom>
          <a:solidFill>
            <a:srgbClr val="0A1520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2286000"/>
            <a:ext cx="41148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411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32257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Fix delivery reliability in northern states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6060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RR, AM, AP and PA average 25–29 days delivery time with freight ratios above 40%. These are both a margin problem and a satisfaction problem — together they explain the low review scores in these regions.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3154680"/>
            <a:ext cx="8229600" cy="749808"/>
          </a:xfrm>
          <a:prstGeom prst="rect">
            <a:avLst/>
          </a:prstGeom>
          <a:solidFill>
            <a:srgbClr val="0A1520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5800" y="3154680"/>
            <a:ext cx="41148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154680"/>
            <a:ext cx="411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19125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Launch a loyalty / re-engagement programme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34747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A 96.9% single-purchase rate means acquisition spend is not compounding. Even moving 5% of one-time buyers to repeat would add significant GMV without incremental CAC.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4023360"/>
            <a:ext cx="8229600" cy="749808"/>
          </a:xfrm>
          <a:prstGeom prst="rect">
            <a:avLst/>
          </a:prstGeom>
          <a:solidFill>
            <a:srgbClr val="0A1520"/>
          </a:solidFill>
          <a:ln w="1016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5800" y="4023360"/>
            <a:ext cx="411480" cy="74980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4023360"/>
            <a:ext cx="411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405993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Put high-revenue / low-rating sellers on notice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43434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Sellers generating over R$15K with sub-3.0 ratings are a hidden churn engine. Implement seller SLAs: maintain a 3.5+ rating or face listing restrictions.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1173</Words>
  <Application>Microsoft Office PowerPoint</Application>
  <PresentationFormat>On-screen Show (16:9)</PresentationFormat>
  <Paragraphs>362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E-Commerce — Executive Analytics</dc:title>
  <dc:subject>PptxGenJS Presentation</dc:subject>
  <dc:creator>PptxGenJS</dc:creator>
  <cp:lastModifiedBy>Sasho Svirski</cp:lastModifiedBy>
  <cp:revision>3</cp:revision>
  <dcterms:created xsi:type="dcterms:W3CDTF">2026-04-22T07:56:02Z</dcterms:created>
  <dcterms:modified xsi:type="dcterms:W3CDTF">2026-04-27T08:05:02Z</dcterms:modified>
</cp:coreProperties>
</file>